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6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279806" cy="279806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" y="548640"/>
            <a:ext cx="279806" cy="279806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" y="548640"/>
            <a:ext cx="279806" cy="279806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5" name="Shape 3"/>
          <p:cNvSpPr/>
          <p:nvPr/>
        </p:nvSpPr>
        <p:spPr>
          <a:xfrm>
            <a:off x="1435608" y="548640"/>
            <a:ext cx="279806" cy="279806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5212080"/>
            <a:ext cx="279806" cy="279806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5212080"/>
            <a:ext cx="279806" cy="279806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5522976"/>
            <a:ext cx="279806" cy="279806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5522976"/>
            <a:ext cx="279806" cy="279806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5943600"/>
            <a:ext cx="263347" cy="263347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1" name="Shape 9"/>
          <p:cNvSpPr/>
          <p:nvPr/>
        </p:nvSpPr>
        <p:spPr>
          <a:xfrm>
            <a:off x="3401568" y="5943600"/>
            <a:ext cx="263347" cy="263347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6236208"/>
            <a:ext cx="263347" cy="263347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01568" y="6236208"/>
            <a:ext cx="263347" cy="263347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E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PROJECT · VANILLA 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15544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800" kern="0" dirty="0">
                <a:solidFill>
                  <a:srgbClr val="E8EB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TETRIS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HTML · CSS · JavaScript로 구현한 클래식 테트리스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2011680" cy="45720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이길주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KIT 20260137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프로그래밍  ·  2026.06.17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822960"/>
            <a:ext cx="3246120" cy="5212080"/>
          </a:xfrm>
          <a:prstGeom prst="roundRect">
            <a:avLst>
              <a:gd name="adj" fmla="val 2254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0" descr="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051560"/>
            <a:ext cx="2788920" cy="4381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5448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920240"/>
            <a:ext cx="181051" cy="181051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" y="1920240"/>
            <a:ext cx="181051" cy="181051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2" name="Shape 10"/>
          <p:cNvSpPr/>
          <p:nvPr/>
        </p:nvSpPr>
        <p:spPr>
          <a:xfrm>
            <a:off x="1271016" y="1920240"/>
            <a:ext cx="181051" cy="181051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" y="2121408"/>
            <a:ext cx="181051" cy="181051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060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동작하는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클래식 테트리스 게임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25112" y="155448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1920240"/>
            <a:ext cx="181051" cy="181051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8" name="Shape 16"/>
          <p:cNvSpPr/>
          <p:nvPr/>
        </p:nvSpPr>
        <p:spPr>
          <a:xfrm>
            <a:off x="4846320" y="1920240"/>
            <a:ext cx="181051" cy="181051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9" name="Shape 17"/>
          <p:cNvSpPr/>
          <p:nvPr/>
        </p:nvSpPr>
        <p:spPr>
          <a:xfrm>
            <a:off x="4645152" y="2121408"/>
            <a:ext cx="181051" cy="181051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121408"/>
            <a:ext cx="181051" cy="181051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26060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목적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45152" y="310896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라이브러리 없이 순수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JS로 게임 로직 구현 능력 향상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01584" y="155448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22792" y="1920240"/>
            <a:ext cx="181051" cy="181051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823960" y="1920240"/>
            <a:ext cx="181051" cy="181051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421624" y="2121408"/>
            <a:ext cx="181051" cy="181051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622792" y="2121408"/>
            <a:ext cx="181051" cy="181051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28" name="Text 26"/>
          <p:cNvSpPr/>
          <p:nvPr/>
        </p:nvSpPr>
        <p:spPr>
          <a:xfrm>
            <a:off x="8421624" y="26060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사용자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421624" y="310896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브라우저에서 가볍게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즐기는 캐주얼 게이머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32A3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</a:t>
            </a:r>
            <a:pPr algn="ctr" indent="0" marL="0">
              <a:buNone/>
            </a:pPr>
            <a:r>
              <a:rPr lang="en-US" sz="17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HTML·CSS는 심플하게 잡고, JavaScript 로직 구현에 집중하는 것을 목표로 했습니다.</a:t>
            </a:r>
            <a:pPr algn="ctr" indent="0" marL="0">
              <a:buNone/>
            </a:pPr>
            <a:r>
              <a:rPr lang="en-US" sz="28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”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0876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3456432" cy="109728"/>
          </a:xfrm>
          <a:prstGeom prst="rect">
            <a:avLst/>
          </a:prstGeom>
          <a:solidFill>
            <a:srgbClr val="F0580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745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구조와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&lt;canvas&gt; 영역 정의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25112" y="150876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1508760"/>
            <a:ext cx="3456432" cy="109728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15" name="Text 13"/>
          <p:cNvSpPr/>
          <p:nvPr/>
        </p:nvSpPr>
        <p:spPr>
          <a:xfrm>
            <a:off x="4645152" y="18745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45152" y="260604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Flexbox 레이아웃,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 UI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01584" y="150876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1508760"/>
            <a:ext cx="3456432" cy="109728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19" name="Text 17"/>
          <p:cNvSpPr/>
          <p:nvPr/>
        </p:nvSpPr>
        <p:spPr>
          <a:xfrm>
            <a:off x="8421624" y="1874520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21624" y="2606040"/>
            <a:ext cx="2816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로직 전체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(Vanilla · 라이브러리 0)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브라우저 API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232A3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5262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Canvas 2D API — 블록·미노 렌더링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25112" y="452628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232A3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53712" y="45262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requestAnimationFrame — 게임 루프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101584" y="452628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232A3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330184" y="452628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KeyboardEvent — 키 조작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733288"/>
            <a:ext cx="106985" cy="106985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87552" y="5733288"/>
            <a:ext cx="106985" cy="106985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106424" y="5733288"/>
            <a:ext cx="106985" cy="106985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225296" y="5733288"/>
            <a:ext cx="106985" cy="106985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3" name="Text 31"/>
          <p:cNvSpPr/>
          <p:nvPr/>
        </p:nvSpPr>
        <p:spPr>
          <a:xfrm>
            <a:off x="1783080" y="55321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프레임워크·라이브러리 0개  </a:t>
            </a:r>
            <a:pPr indent="0" marL="0">
              <a:buNone/>
            </a:pPr>
            <a:r>
              <a:rPr lang="en-US" sz="160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전부 브라우저 기본 기능만으로 구현했습니다.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구성 (UI 구조)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63040"/>
            <a:ext cx="3200400" cy="4766400"/>
          </a:xfrm>
          <a:prstGeom prst="roundRect">
            <a:avLst>
              <a:gd name="adj" fmla="val 2286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743200" cy="4309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97680" y="15544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1554480"/>
            <a:ext cx="128016" cy="1051560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171907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보드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63440" y="21031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300×600 캔버스 = 10칸 × 20칸 (1칸 30px)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278892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97680" y="2788920"/>
            <a:ext cx="128016" cy="1051560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295351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패널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663440" y="33375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· 레벨 · 라인 · 다음 미노 · 홀드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97680" y="402336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97680" y="4023360"/>
            <a:ext cx="128016" cy="1051560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418795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오버레이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663440" y="45720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시작 / 일시정지 화면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7680" y="525780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297680" y="5257800"/>
            <a:ext cx="128016" cy="1051560"/>
          </a:xfrm>
          <a:prstGeom prst="rect">
            <a:avLst/>
          </a:prstGeom>
          <a:solidFill>
            <a:srgbClr val="F05800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542239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푸터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663440" y="58064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조작키 안내 (←→ 이동, z 회전, ↑ 하드드롭 …)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0876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28800"/>
            <a:ext cx="148133" cy="148133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" y="1828800"/>
            <a:ext cx="148133" cy="148133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97864" y="1828800"/>
            <a:ext cx="148133" cy="148133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" y="1993392"/>
            <a:ext cx="148133" cy="148133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377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미노 이동 / 회전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80720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←→ 이동, z 회전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(벽 끼임 보정 포함)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5112" y="150876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1828800"/>
            <a:ext cx="148133" cy="148133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9744" y="1828800"/>
            <a:ext cx="148133" cy="148133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19" name="Shape 17"/>
          <p:cNvSpPr/>
          <p:nvPr/>
        </p:nvSpPr>
        <p:spPr>
          <a:xfrm>
            <a:off x="4974336" y="1828800"/>
            <a:ext cx="148133" cy="148133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138928" y="1828800"/>
            <a:ext cx="148133" cy="148133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2377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하드드롭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45152" y="280720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키로 바닥까지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내리기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01584" y="150876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21624" y="1828800"/>
            <a:ext cx="148133" cy="148133"/>
          </a:xfrm>
          <a:prstGeom prst="rect">
            <a:avLst/>
          </a:prstGeom>
          <a:solidFill>
            <a:srgbClr val="F0580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21624" y="1993392"/>
            <a:ext cx="148133" cy="148133"/>
          </a:xfrm>
          <a:prstGeom prst="rect">
            <a:avLst/>
          </a:prstGeom>
          <a:solidFill>
            <a:srgbClr val="F058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421624" y="2157984"/>
            <a:ext cx="148133" cy="148133"/>
          </a:xfrm>
          <a:prstGeom prst="rect">
            <a:avLst/>
          </a:prstGeom>
          <a:solidFill>
            <a:srgbClr val="F058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586216" y="2157984"/>
            <a:ext cx="148133" cy="148133"/>
          </a:xfrm>
          <a:prstGeom prst="rect">
            <a:avLst/>
          </a:prstGeom>
          <a:solidFill>
            <a:srgbClr val="F05800"/>
          </a:solidFill>
          <a:ln/>
        </p:spPr>
      </p:sp>
      <p:sp>
        <p:nvSpPr>
          <p:cNvPr id="28" name="Text 26"/>
          <p:cNvSpPr/>
          <p:nvPr/>
        </p:nvSpPr>
        <p:spPr>
          <a:xfrm>
            <a:off x="8421624" y="237744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낙하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21624" y="280720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시간에 따라 블록이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내려옴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84048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3272" y="4160520"/>
            <a:ext cx="148133" cy="148133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97864" y="4160520"/>
            <a:ext cx="148133" cy="148133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33" name="Shape 31"/>
          <p:cNvSpPr/>
          <p:nvPr/>
        </p:nvSpPr>
        <p:spPr>
          <a:xfrm>
            <a:off x="868680" y="4325112"/>
            <a:ext cx="148133" cy="148133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3272" y="4325112"/>
            <a:ext cx="148133" cy="148133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7091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클리어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68680" y="513892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줄이 꽉 차면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+ 점수 획득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325112" y="384048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45152" y="4160520"/>
            <a:ext cx="148133" cy="148133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39" name="Shape 37"/>
          <p:cNvSpPr/>
          <p:nvPr/>
        </p:nvSpPr>
        <p:spPr>
          <a:xfrm>
            <a:off x="4809744" y="4160520"/>
            <a:ext cx="148133" cy="148133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40" name="Shape 38"/>
          <p:cNvSpPr/>
          <p:nvPr/>
        </p:nvSpPr>
        <p:spPr>
          <a:xfrm>
            <a:off x="4645152" y="4325112"/>
            <a:ext cx="148133" cy="148133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9744" y="4325112"/>
            <a:ext cx="148133" cy="148133"/>
          </a:xfrm>
          <a:prstGeom prst="rect">
            <a:avLst/>
          </a:prstGeom>
          <a:solidFill>
            <a:srgbClr val="FCF809"/>
          </a:solidFill>
          <a:ln/>
        </p:spPr>
      </p:sp>
      <p:sp>
        <p:nvSpPr>
          <p:cNvPr id="42" name="Text 40"/>
          <p:cNvSpPr/>
          <p:nvPr/>
        </p:nvSpPr>
        <p:spPr>
          <a:xfrm>
            <a:off x="4645152" y="47091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미노 미리보기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645152" y="5138928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7-bag 랜덤으로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블록 표시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101584" y="3840480"/>
            <a:ext cx="3456432" cy="2057400"/>
          </a:xfrm>
          <a:prstGeom prst="roundRect">
            <a:avLst>
              <a:gd name="adj" fmla="val 3556"/>
            </a:avLst>
          </a:prstGeom>
          <a:solidFill>
            <a:srgbClr val="232A3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421624" y="3840480"/>
            <a:ext cx="2816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JavaScript로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구현한 게임 로직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설명 (핵심 부분)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08760"/>
            <a:ext cx="3611880" cy="91440"/>
          </a:xfrm>
          <a:prstGeom prst="rect">
            <a:avLst/>
          </a:prstGeom>
          <a:solidFill>
            <a:srgbClr val="00CC0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76479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충돌 검사 — 모든 이동의 기반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49808" y="2468880"/>
            <a:ext cx="3209544" cy="3291840"/>
          </a:xfrm>
          <a:prstGeom prst="roundRect">
            <a:avLst>
              <a:gd name="adj" fmla="val 1425"/>
            </a:avLst>
          </a:prstGeom>
          <a:solidFill>
            <a:srgbClr val="0A0C12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606040"/>
            <a:ext cx="2971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collison(mino, x, y){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좌우 벽 / 바닥 / 쌓인 블록 검사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(boardX&lt;0 || boardX&gt;=COLS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|| boardY&gt;=ROWS) return true;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(board[boardY][boardX]!=0)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07408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07408" y="1508760"/>
            <a:ext cx="3611880" cy="91440"/>
          </a:xfrm>
          <a:prstGeom prst="rect">
            <a:avLst/>
          </a:prstGeom>
          <a:solidFill>
            <a:srgbClr val="047FE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76479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게임 루프 — 자동 낙하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608576" y="2468880"/>
            <a:ext cx="3209544" cy="3291840"/>
          </a:xfrm>
          <a:prstGeom prst="roundRect">
            <a:avLst>
              <a:gd name="adj" fmla="val 1425"/>
            </a:avLst>
          </a:prstGeom>
          <a:solidFill>
            <a:srgbClr val="0A0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606040"/>
            <a:ext cx="2971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(dropCounter &gt; dropInterval){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(!collison(shape,x,y+1)) y++;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{ freeze();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clearLine();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respawn(); }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requestAnimationFrame(update);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66176" y="150876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66176" y="1508760"/>
            <a:ext cx="3611880" cy="91440"/>
          </a:xfrm>
          <a:prstGeom prst="rect">
            <a:avLst/>
          </a:prstGeom>
          <a:solidFill>
            <a:srgbClr val="8C03E7"/>
          </a:solidFill>
          <a:ln/>
        </p:spPr>
      </p:sp>
      <p:sp>
        <p:nvSpPr>
          <p:cNvPr id="21" name="Text 19"/>
          <p:cNvSpPr/>
          <p:nvPr/>
        </p:nvSpPr>
        <p:spPr>
          <a:xfrm>
            <a:off x="8522208" y="176479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7-bag 랜덤 — 블록 쏠림 방지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467344" y="2468880"/>
            <a:ext cx="3209544" cy="3291840"/>
          </a:xfrm>
          <a:prstGeom prst="roundRect">
            <a:avLst>
              <a:gd name="adj" fmla="val 1425"/>
            </a:avLst>
          </a:prstGeom>
          <a:solidFill>
            <a:srgbClr val="0A0C12"/>
          </a:solidFill>
          <a:ln/>
        </p:spPr>
      </p:sp>
      <p:sp>
        <p:nvSpPr>
          <p:cNvPr id="23" name="Text 21"/>
          <p:cNvSpPr/>
          <p:nvPr/>
        </p:nvSpPr>
        <p:spPr>
          <a:xfrm>
            <a:off x="8613648" y="2606040"/>
            <a:ext cx="29718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types =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['A','B','C','D','E','F','G'];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7개를 한 번 섞어 한 세트씩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소진 → 같은 블록이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6E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연속으로 몰리지 않게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63040"/>
            <a:ext cx="3291840" cy="4910040"/>
          </a:xfrm>
          <a:prstGeom prst="roundRect">
            <a:avLst>
              <a:gd name="adj" fmla="val 2222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834640" cy="44528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97680" y="1463040"/>
            <a:ext cx="7315200" cy="3108960"/>
          </a:xfrm>
          <a:prstGeom prst="roundRect">
            <a:avLst>
              <a:gd name="adj" fmla="val 2353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645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572000" y="2194560"/>
            <a:ext cx="384048" cy="384048"/>
          </a:xfrm>
          <a:prstGeom prst="ellipse">
            <a:avLst/>
          </a:prstGeom>
          <a:solidFill>
            <a:srgbClr val="F5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20640" y="215798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오버레이 → '게임 시작' 클릭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4572000" y="2761488"/>
            <a:ext cx="384048" cy="384048"/>
          </a:xfrm>
          <a:prstGeom prst="ellipse">
            <a:avLst/>
          </a:prstGeom>
          <a:solidFill>
            <a:srgbClr val="F0580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272491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/ 회전 / 하드드롭 조작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4572000" y="3328416"/>
            <a:ext cx="384048" cy="384048"/>
          </a:xfrm>
          <a:prstGeom prst="ellipse">
            <a:avLst/>
          </a:prstGeom>
          <a:solidFill>
            <a:srgbClr val="FCF809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20640" y="3291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줄을 채워 라인 클리어 시연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4572000" y="3895344"/>
            <a:ext cx="384048" cy="384048"/>
          </a:xfrm>
          <a:prstGeom prst="ellipse">
            <a:avLst/>
          </a:prstGeom>
          <a:solidFill>
            <a:srgbClr val="00CC00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120640" y="385876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미노 미리보기 동작 확인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4297680" y="4800600"/>
            <a:ext cx="7315200" cy="1005840"/>
          </a:xfrm>
          <a:prstGeom prst="roundRect">
            <a:avLst>
              <a:gd name="adj" fmla="val 7273"/>
            </a:avLst>
          </a:prstGeom>
          <a:solidFill>
            <a:srgbClr val="232A3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572000" y="4800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1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링크   </a:t>
            </a:r>
            <a:pPr indent="0" marL="0">
              <a:buNone/>
            </a:pPr>
            <a:r>
              <a:rPr lang="en-US" sz="1500" dirty="0">
                <a:solidFill>
                  <a:srgbClr val="E8EB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https://(GitHub Pages 주소 입력)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과정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54480"/>
            <a:ext cx="128016" cy="1371600"/>
          </a:xfrm>
          <a:prstGeom prst="rect">
            <a:avLst/>
          </a:prstGeom>
          <a:solidFill>
            <a:srgbClr val="F5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시 벽이나 블록에 끼여 회전이 안 됨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5216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057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 후 충돌하면 좌우·상하로 밀어보는 '월 킥' 보정 추가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14984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09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 type rotate bug clear'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12724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27248"/>
            <a:ext cx="128016" cy="1371600"/>
          </a:xfrm>
          <a:prstGeom prst="rect">
            <a:avLst/>
          </a:prstGeom>
          <a:solidFill>
            <a:srgbClr val="F5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101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6301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하드드롭 후 블록 고정 / 재생성이 꼬임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20640" y="3127248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852160" y="33101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36301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→ clearLine → respawn 순서 정리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149840" y="312724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09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'freeze + respawn'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A1F2B"/>
          </a:solidFill>
          <a:ln/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700016"/>
            <a:ext cx="128016" cy="1371600"/>
          </a:xfrm>
          <a:prstGeom prst="rect">
            <a:avLst/>
          </a:prstGeom>
          <a:solidFill>
            <a:srgbClr val="F5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882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20293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블록이 보드 밖으로 빠져나감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120640" y="4700016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1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852160" y="48828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0" y="520293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8EB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검사의 경계 조건(벽·바닥) 보완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149840" y="4700016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09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collison() 경계 처리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99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git 커밋 기록으로 문제 해결 과정을 추적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232a3b"/>
                </a:solidFill>
                <a:latin typeface="Arial Black"/>
                <a:ea typeface="Arial Black"/>
                <a:cs typeface="Arial Black"/>
              </a:rPr>
              <a:t>08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느낀 점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10927080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082528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237976" y="502920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082528" y="658368"/>
            <a:ext cx="139903" cy="139903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1a1f2b"/>
          </a:solidFill>
          <a:ln/>
          <a:effectLst>
            <a:outerShdw blurRad="114300" dist="381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508760"/>
            <a:ext cx="3456432" cy="109728"/>
          </a:xfrm>
          <a:prstGeom prst="rect">
            <a:avLst/>
          </a:prstGeom>
          <a:solidFill>
            <a:srgbClr val="00cc00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배운 점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868680" y="2468880"/>
            <a:ext cx="2907792" cy="2103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2D 배열·좌표 계산으로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게임 로직을 직접 설계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Canvas와 게임 루프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rAF 동작 원리 이해</a:t>
            </a:r>
            <a:b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</a:br>
            <a:r>
              <a:rPr lang="en-US" altLang="ko-KR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화면 갱신 </a:t>
            </a:r>
            <a:r>
              <a:rPr lang="en-US" altLang="ko-KR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 렌더링 루프</a:t>
            </a:r>
            <a:r>
              <a:rPr lang="en-US" altLang="ko-KR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lang="en-US" altLang="ko-KR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25112" y="1508760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1a1f2b"/>
          </a:solidFill>
          <a:ln/>
          <a:effectLst>
            <a:outerShdw blurRad="114300" dist="381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25112" y="1508760"/>
            <a:ext cx="3456432" cy="109728"/>
          </a:xfrm>
          <a:prstGeom prst="rect">
            <a:avLst/>
          </a:prstGeom>
          <a:solidFill>
            <a:srgbClr val="f05800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45152" y="18288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어려웠던 점</a:t>
            </a:r>
            <a:endParaRPr lang="en-US" sz="1900"/>
          </a:p>
        </p:txBody>
      </p:sp>
      <p:sp>
        <p:nvSpPr>
          <p:cNvPr id="16" name="Text 14"/>
          <p:cNvSpPr/>
          <p:nvPr/>
        </p:nvSpPr>
        <p:spPr>
          <a:xfrm>
            <a:off x="4645152" y="2468880"/>
            <a:ext cx="2907792" cy="2103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회전 시 충돌 보정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(월 킥) 처리가 가장 까다로움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이벤트·게임 루프의</a:t>
            </a: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상태 관리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01584" y="1508760"/>
            <a:ext cx="3456432" cy="3291840"/>
          </a:xfrm>
          <a:prstGeom prst="roundRect">
            <a:avLst>
              <a:gd name="adj" fmla="val 2222"/>
            </a:avLst>
          </a:prstGeom>
          <a:solidFill>
            <a:srgbClr val="1a1f2b"/>
          </a:solidFill>
          <a:ln/>
          <a:effectLst>
            <a:outerShdw blurRad="114300" dist="381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101584" y="1508760"/>
            <a:ext cx="3456432" cy="109728"/>
          </a:xfrm>
          <a:prstGeom prst="rect">
            <a:avLst/>
          </a:prstGeom>
          <a:solidFill>
            <a:srgbClr val="8c03e7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21624" y="18288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개선하고 싶은 점</a:t>
            </a:r>
            <a:endParaRPr lang="en-US" sz="1900"/>
          </a:p>
        </p:txBody>
      </p:sp>
      <p:sp>
        <p:nvSpPr>
          <p:cNvPr id="20" name="Text 18"/>
          <p:cNvSpPr/>
          <p:nvPr/>
        </p:nvSpPr>
        <p:spPr>
          <a:xfrm>
            <a:off x="8421624" y="2468880"/>
            <a:ext cx="2907792" cy="21031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홀드(x) 기능 완성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점수·레벨 UI 연동 +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레벨당 </a:t>
            </a:r>
            <a:r>
              <a:rPr 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속도 증가, 게임 오버 처리</a:t>
            </a:r>
            <a:endParaRPr 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altLang="ko-KR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push</a:t>
            </a: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 멈춤 기능</a:t>
            </a:r>
            <a:endParaRPr lang="ko-KR" alt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altLang="ko-KR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lang="en-US" altLang="ko-KR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 or</a:t>
            </a:r>
            <a:r>
              <a:rPr lang="ko-KR" altLang="en-US" sz="1400">
                <a:solidFill>
                  <a:srgbClr val="e8ebf2"/>
                </a:solidFill>
                <a:latin typeface="맑은 고딕"/>
                <a:ea typeface="맑은 고딕"/>
                <a:cs typeface="맑은 고딕"/>
              </a:rPr>
              <a:t> 멀티 대전 기능</a:t>
            </a:r>
            <a:endParaRPr lang="ko-KR" altLang="en-US" sz="1400">
              <a:solidFill>
                <a:srgbClr val="e8ebf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32a3b"/>
          </a:solidFill>
          <a:ln/>
          <a:effectLst>
            <a:outerShdw blurRad="114300" dist="38100" dir="8100000" algn="bl" rotWithShape="0">
              <a:srgbClr val="000000">
                <a:alpha val="3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5321808"/>
            <a:ext cx="131674" cy="131674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60704" y="5321808"/>
            <a:ext cx="131674" cy="131674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207008" y="5321808"/>
            <a:ext cx="131674" cy="131674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53312" y="5321808"/>
            <a:ext cx="131674" cy="131674"/>
          </a:xfrm>
          <a:prstGeom prst="rect">
            <a:avLst/>
          </a:prstGeom>
          <a:solidFill>
            <a:srgbClr val="4ec1ff"/>
          </a:solidFill>
          <a:ln/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4ec1ff"/>
                </a:solidFill>
                <a:latin typeface="맑은 고딕"/>
                <a:ea typeface="맑은 고딕"/>
                <a:cs typeface="맑은 고딕"/>
              </a:rPr>
              <a:t>감사합니다.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437</ep:Words>
  <ep:PresentationFormat>On-screen Show (16:9)</ep:PresentationFormat>
  <ep:Paragraphs>138</ep:Paragraphs>
  <ep:Slides>9</ep:Slides>
  <ep:Notes>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2026-06-17T07:45:53.000</dcterms:created>
  <dc:creator>이길주</dc:creator>
  <cp:lastModifiedBy>dlrlf</cp:lastModifiedBy>
  <dcterms:modified xsi:type="dcterms:W3CDTF">2026-06-17T07:51:48.478</dcterms:modified>
  <cp:revision>8</cp:revision>
  <dc:subject>PptxGenJS Presentation</dc:subject>
  <dc:title>TETRIS 프로젝트 발표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